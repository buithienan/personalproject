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2803750" cx="30275200"/>
  <p:notesSz cx="14224000" cy="20104100"/>
  <p:embeddedFontLst>
    <p:embeddedFont>
      <p:font typeface="Bebas Neue"/>
      <p:regular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>
          <p15:clr>
            <a:srgbClr val="747775"/>
          </p15:clr>
        </p15:guide>
      </p15:sldGuideLst>
    </p:ext>
    <p:ext uri="GoogleSlidesCustomDataVersion2">
      <go:slidesCustomData xmlns:go="http://customooxmlschemas.google.com/" r:id="rId8" roundtripDataSignature="AMtx7mhSm/MOJHflcmRbTmb/tu923C/F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BebasNeue-regular.fntdata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371125" y="1507800"/>
            <a:ext cx="9483125" cy="7539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422400" y="9549425"/>
            <a:ext cx="11379200" cy="90468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61aa85237a_0_0:notes"/>
          <p:cNvSpPr txBox="1"/>
          <p:nvPr>
            <p:ph idx="1" type="body"/>
          </p:nvPr>
        </p:nvSpPr>
        <p:spPr>
          <a:xfrm>
            <a:off x="1422400" y="9549425"/>
            <a:ext cx="11379300" cy="90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" name="Google Shape;42;g361aa85237a_0_0:notes"/>
          <p:cNvSpPr/>
          <p:nvPr>
            <p:ph idx="2" type="sldImg"/>
          </p:nvPr>
        </p:nvSpPr>
        <p:spPr>
          <a:xfrm>
            <a:off x="4446588" y="1508125"/>
            <a:ext cx="5332500" cy="753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8205433" y="568164"/>
            <a:ext cx="20073600" cy="19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984">
                <a:solidFill>
                  <a:srgbClr val="0074BC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1513761" y="9844866"/>
            <a:ext cx="2724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10293573" y="39807503"/>
            <a:ext cx="9688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1513761" y="39807503"/>
            <a:ext cx="696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21798153" y="39807503"/>
            <a:ext cx="696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ctrTitle"/>
          </p:nvPr>
        </p:nvSpPr>
        <p:spPr>
          <a:xfrm>
            <a:off x="2270641" y="13269168"/>
            <a:ext cx="25734000" cy="19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984">
                <a:solidFill>
                  <a:srgbClr val="0074BC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subTitle"/>
          </p:nvPr>
        </p:nvSpPr>
        <p:spPr>
          <a:xfrm>
            <a:off x="4541282" y="23970108"/>
            <a:ext cx="21192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10293573" y="39807503"/>
            <a:ext cx="9688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1513761" y="39807503"/>
            <a:ext cx="696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21798153" y="39807503"/>
            <a:ext cx="696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8205433" y="568164"/>
            <a:ext cx="20073600" cy="19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984">
                <a:solidFill>
                  <a:srgbClr val="0074BC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1513760" y="9844866"/>
            <a:ext cx="13169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15591735" y="9844866"/>
            <a:ext cx="13169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1" type="ftr"/>
          </p:nvPr>
        </p:nvSpPr>
        <p:spPr>
          <a:xfrm>
            <a:off x="10293573" y="39807503"/>
            <a:ext cx="9688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1513761" y="39807503"/>
            <a:ext cx="696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21798153" y="39807503"/>
            <a:ext cx="696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8205433" y="568164"/>
            <a:ext cx="20073600" cy="19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984">
                <a:solidFill>
                  <a:srgbClr val="0074BC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1" type="ftr"/>
          </p:nvPr>
        </p:nvSpPr>
        <p:spPr>
          <a:xfrm>
            <a:off x="10293573" y="39807503"/>
            <a:ext cx="9688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0" type="dt"/>
          </p:nvPr>
        </p:nvSpPr>
        <p:spPr>
          <a:xfrm>
            <a:off x="1513761" y="39807503"/>
            <a:ext cx="696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21798153" y="39807503"/>
            <a:ext cx="696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idx="11" type="ftr"/>
          </p:nvPr>
        </p:nvSpPr>
        <p:spPr>
          <a:xfrm>
            <a:off x="10293573" y="39807503"/>
            <a:ext cx="9688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0" type="dt"/>
          </p:nvPr>
        </p:nvSpPr>
        <p:spPr>
          <a:xfrm>
            <a:off x="1513761" y="39807503"/>
            <a:ext cx="696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21798153" y="39807503"/>
            <a:ext cx="696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/>
          <p:nvPr/>
        </p:nvSpPr>
        <p:spPr>
          <a:xfrm>
            <a:off x="287908" y="287955"/>
            <a:ext cx="29677944" cy="42245547"/>
          </a:xfrm>
          <a:custGeom>
            <a:rect b="b" l="l" r="r" t="t"/>
            <a:pathLst>
              <a:path extrusionOk="0" h="19833590" w="13949680">
                <a:moveTo>
                  <a:pt x="13949456" y="0"/>
                </a:moveTo>
                <a:lnTo>
                  <a:pt x="0" y="0"/>
                </a:lnTo>
                <a:lnTo>
                  <a:pt x="0" y="19833586"/>
                </a:lnTo>
                <a:lnTo>
                  <a:pt x="13949456" y="19833586"/>
                </a:lnTo>
                <a:lnTo>
                  <a:pt x="13949456" y="0"/>
                </a:lnTo>
                <a:close/>
              </a:path>
            </a:pathLst>
          </a:custGeom>
          <a:solidFill>
            <a:srgbClr val="E2EC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2"/>
          <p:cNvSpPr txBox="1"/>
          <p:nvPr>
            <p:ph type="title"/>
          </p:nvPr>
        </p:nvSpPr>
        <p:spPr>
          <a:xfrm>
            <a:off x="8205433" y="568164"/>
            <a:ext cx="200736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6100" u="none" cap="none" strike="noStrike">
                <a:solidFill>
                  <a:srgbClr val="0074BC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" type="body"/>
          </p:nvPr>
        </p:nvSpPr>
        <p:spPr>
          <a:xfrm>
            <a:off x="1513761" y="9844866"/>
            <a:ext cx="2724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10293573" y="39807503"/>
            <a:ext cx="9688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0" type="dt"/>
          </p:nvPr>
        </p:nvSpPr>
        <p:spPr>
          <a:xfrm>
            <a:off x="1513761" y="39807503"/>
            <a:ext cx="696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21798153" y="39807503"/>
            <a:ext cx="696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6.png"/><Relationship Id="rId11" Type="http://schemas.openxmlformats.org/officeDocument/2006/relationships/image" Target="../media/image2.png"/><Relationship Id="rId22" Type="http://schemas.openxmlformats.org/officeDocument/2006/relationships/image" Target="../media/image22.png"/><Relationship Id="rId10" Type="http://schemas.openxmlformats.org/officeDocument/2006/relationships/image" Target="../media/image14.png"/><Relationship Id="rId21" Type="http://schemas.openxmlformats.org/officeDocument/2006/relationships/image" Target="../media/image4.png"/><Relationship Id="rId13" Type="http://schemas.openxmlformats.org/officeDocument/2006/relationships/image" Target="../media/image15.png"/><Relationship Id="rId24" Type="http://schemas.openxmlformats.org/officeDocument/2006/relationships/image" Target="../media/image20.png"/><Relationship Id="rId12" Type="http://schemas.openxmlformats.org/officeDocument/2006/relationships/image" Target="../media/image19.png"/><Relationship Id="rId23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7.png"/><Relationship Id="rId15" Type="http://schemas.openxmlformats.org/officeDocument/2006/relationships/image" Target="../media/image10.png"/><Relationship Id="rId14" Type="http://schemas.openxmlformats.org/officeDocument/2006/relationships/image" Target="../media/image3.png"/><Relationship Id="rId17" Type="http://schemas.openxmlformats.org/officeDocument/2006/relationships/image" Target="../media/image13.png"/><Relationship Id="rId16" Type="http://schemas.openxmlformats.org/officeDocument/2006/relationships/image" Target="../media/image17.png"/><Relationship Id="rId5" Type="http://schemas.openxmlformats.org/officeDocument/2006/relationships/image" Target="../media/image11.png"/><Relationship Id="rId19" Type="http://schemas.openxmlformats.org/officeDocument/2006/relationships/image" Target="../media/image18.png"/><Relationship Id="rId6" Type="http://schemas.openxmlformats.org/officeDocument/2006/relationships/image" Target="../media/image6.png"/><Relationship Id="rId18" Type="http://schemas.openxmlformats.org/officeDocument/2006/relationships/image" Target="../media/image12.png"/><Relationship Id="rId7" Type="http://schemas.openxmlformats.org/officeDocument/2006/relationships/image" Target="../media/image8.jp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61aa85237a_0_0"/>
          <p:cNvSpPr/>
          <p:nvPr/>
        </p:nvSpPr>
        <p:spPr>
          <a:xfrm>
            <a:off x="75" y="25"/>
            <a:ext cx="30275100" cy="42803700"/>
          </a:xfrm>
          <a:prstGeom prst="rect">
            <a:avLst/>
          </a:prstGeom>
          <a:solidFill>
            <a:srgbClr val="EFF8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215900" lvl="0" marL="0" marR="0" rtl="0" algn="just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g361aa85237a_0_0"/>
          <p:cNvSpPr/>
          <p:nvPr/>
        </p:nvSpPr>
        <p:spPr>
          <a:xfrm>
            <a:off x="334850" y="16214725"/>
            <a:ext cx="29605500" cy="26352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361aa85237a_0_0"/>
          <p:cNvSpPr/>
          <p:nvPr/>
        </p:nvSpPr>
        <p:spPr>
          <a:xfrm>
            <a:off x="11548975" y="9806025"/>
            <a:ext cx="18379200" cy="6175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g361aa85237a_0_0"/>
          <p:cNvSpPr txBox="1"/>
          <p:nvPr>
            <p:ph type="title"/>
          </p:nvPr>
        </p:nvSpPr>
        <p:spPr>
          <a:xfrm>
            <a:off x="516050" y="2261550"/>
            <a:ext cx="29243100" cy="28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54075">
            <a:noAutofit/>
          </a:bodyPr>
          <a:lstStyle/>
          <a:p>
            <a:pPr indent="0" lvl="0" marL="457200" marR="1081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MÔ HÌNH HÓA MÔ HÌNH KHẢO SÁT ĐỘNG LỰC HỌC XE ĐIỆN</a:t>
            </a:r>
            <a:endParaRPr sz="60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4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Giảng viên hướng dẫn:</a:t>
            </a:r>
            <a:r>
              <a:rPr b="0" i="1" lang="en-US" sz="4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TS. Trần Đăng Long</a:t>
            </a:r>
            <a:endParaRPr i="1" sz="4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n-US" sz="4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Sinh viên thực hiện: </a:t>
            </a:r>
            <a:r>
              <a:rPr b="0" i="1" lang="en-US" sz="4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Bùi Thiên Ân - </a:t>
            </a:r>
            <a:r>
              <a:rPr i="1" lang="en-US" sz="4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MSSV:</a:t>
            </a:r>
            <a:r>
              <a:rPr b="0" i="1" lang="en-US" sz="4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2112833; Phạm Hữu Toàn - </a:t>
            </a:r>
            <a:r>
              <a:rPr i="1" lang="en-US" sz="4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MSSV: </a:t>
            </a:r>
            <a:r>
              <a:rPr b="0" i="1" lang="en-US" sz="4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2112460</a:t>
            </a:r>
            <a:endParaRPr b="0" i="1" sz="4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" name="Google Shape;48;g361aa85237a_0_0"/>
          <p:cNvGrpSpPr/>
          <p:nvPr/>
        </p:nvGrpSpPr>
        <p:grpSpPr>
          <a:xfrm>
            <a:off x="1424099" y="269050"/>
            <a:ext cx="26858666" cy="2217600"/>
            <a:chOff x="1949987" y="352625"/>
            <a:chExt cx="26858666" cy="2217600"/>
          </a:xfrm>
        </p:grpSpPr>
        <p:sp>
          <p:nvSpPr>
            <p:cNvPr id="49" name="Google Shape;49;g361aa85237a_0_0"/>
            <p:cNvSpPr txBox="1"/>
            <p:nvPr/>
          </p:nvSpPr>
          <p:spPr>
            <a:xfrm>
              <a:off x="4014950" y="352625"/>
              <a:ext cx="22762200" cy="22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45720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i="0" lang="en-US" sz="4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Trường Đại học Bách khoa</a:t>
              </a:r>
              <a:r>
                <a:rPr b="1" lang="en-US" sz="4500">
                  <a:solidFill>
                    <a:schemeClr val="dk1"/>
                  </a:solidFill>
                </a:rPr>
                <a:t> </a:t>
              </a:r>
              <a:r>
                <a:rPr b="1" i="0" lang="en-US" sz="4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Đại học Quốc gia TP.HCM</a:t>
              </a:r>
              <a:endParaRPr b="1" i="0" sz="4500" u="none" cap="none" strike="noStrike">
                <a:solidFill>
                  <a:srgbClr val="231F2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45720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i="0" lang="en-US" sz="4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Bộ môn Kỹ thuật Ô tô - Máy động lực, Khoa Kỹ thuật Giao thông</a:t>
              </a:r>
              <a:endParaRPr b="1" i="0" sz="4500" u="none" cap="none" strike="noStrike">
                <a:solidFill>
                  <a:srgbClr val="231F2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50" name="Google Shape;50;g361aa85237a_0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49987" y="601566"/>
              <a:ext cx="2093773" cy="19528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g361aa85237a_0_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805893" y="601563"/>
              <a:ext cx="2002760" cy="19528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" name="Google Shape;52;g361aa85237a_0_0"/>
          <p:cNvSpPr/>
          <p:nvPr/>
        </p:nvSpPr>
        <p:spPr>
          <a:xfrm>
            <a:off x="334850" y="5836625"/>
            <a:ext cx="29605500" cy="378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g361aa85237a_0_0"/>
          <p:cNvSpPr/>
          <p:nvPr/>
        </p:nvSpPr>
        <p:spPr>
          <a:xfrm>
            <a:off x="332400" y="5121125"/>
            <a:ext cx="29605500" cy="445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228600" lvl="0" marL="228600" marR="28055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g361aa85237a_0_0"/>
          <p:cNvSpPr/>
          <p:nvPr/>
        </p:nvSpPr>
        <p:spPr>
          <a:xfrm>
            <a:off x="322675" y="5117984"/>
            <a:ext cx="29605500" cy="683700"/>
          </a:xfrm>
          <a:prstGeom prst="rect">
            <a:avLst/>
          </a:prstGeom>
          <a:solidFill>
            <a:srgbClr val="0074B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0850" lvl="0" marL="457200" marR="10811" rtl="0" algn="ctr">
              <a:lnSpc>
                <a:spcPct val="10857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AutoNum type="arabicPeriod"/>
            </a:pPr>
            <a:r>
              <a:rPr b="1" lang="en-US" sz="3500">
                <a:solidFill>
                  <a:schemeClr val="lt1"/>
                </a:solidFill>
              </a:rPr>
              <a:t>Giới thiệu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61aa85237a_0_0"/>
          <p:cNvSpPr txBox="1"/>
          <p:nvPr/>
        </p:nvSpPr>
        <p:spPr>
          <a:xfrm>
            <a:off x="322675" y="22588600"/>
            <a:ext cx="29605500" cy="6837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3500"/>
              <a:t>5</a:t>
            </a:r>
            <a:r>
              <a:rPr b="1" i="0" lang="en-US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Kết quả thực nghiệm xác định các thông số đặc trưng của từng cụm</a:t>
            </a:r>
            <a:endParaRPr b="1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61aa85237a_0_0"/>
          <p:cNvSpPr/>
          <p:nvPr/>
        </p:nvSpPr>
        <p:spPr>
          <a:xfrm>
            <a:off x="334850" y="16214725"/>
            <a:ext cx="29605500" cy="723300"/>
          </a:xfrm>
          <a:prstGeom prst="rect">
            <a:avLst/>
          </a:prstGeom>
          <a:solidFill>
            <a:srgbClr val="93C47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3500">
                <a:solidFill>
                  <a:schemeClr val="dk1"/>
                </a:solidFill>
              </a:rPr>
              <a:t>4</a:t>
            </a:r>
            <a:r>
              <a:rPr b="1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Mô hình tổng quát</a:t>
            </a:r>
            <a:endParaRPr b="1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361aa85237a_0_0"/>
          <p:cNvSpPr txBox="1"/>
          <p:nvPr/>
        </p:nvSpPr>
        <p:spPr>
          <a:xfrm>
            <a:off x="11548975" y="9792225"/>
            <a:ext cx="7838700" cy="6228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/>
              <a:t>2. </a:t>
            </a:r>
            <a:r>
              <a:rPr b="1" i="0" lang="en-US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Sơ đồ bố trí chung</a:t>
            </a:r>
            <a:endParaRPr b="1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" name="Google Shape;58;g361aa85237a_0_0"/>
          <p:cNvCxnSpPr>
            <a:stCxn id="59" idx="1"/>
          </p:cNvCxnSpPr>
          <p:nvPr/>
        </p:nvCxnSpPr>
        <p:spPr>
          <a:xfrm>
            <a:off x="19404350" y="10099800"/>
            <a:ext cx="0" cy="589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g361aa85237a_0_0"/>
          <p:cNvSpPr txBox="1"/>
          <p:nvPr/>
        </p:nvSpPr>
        <p:spPr>
          <a:xfrm>
            <a:off x="19404350" y="9788400"/>
            <a:ext cx="10513500" cy="622800"/>
          </a:xfrm>
          <a:prstGeom prst="rect">
            <a:avLst/>
          </a:prstGeom>
          <a:solidFill>
            <a:srgbClr val="D0E0E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3500"/>
              <a:t>3</a:t>
            </a:r>
            <a:r>
              <a:rPr b="1" i="0" lang="en-US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Sơ đồ nguyên lý</a:t>
            </a:r>
            <a:endParaRPr b="1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g361aa85237a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424513" y="10551025"/>
            <a:ext cx="4087618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g361aa85237a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35038" y="14668475"/>
            <a:ext cx="7666564" cy="1026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2" name="Google Shape;62;g361aa85237a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03200" y="13419049"/>
            <a:ext cx="1139000" cy="1708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3" name="Google Shape;63;g361aa85237a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4350" y="13419059"/>
            <a:ext cx="1281375" cy="1708500"/>
          </a:xfrm>
          <a:prstGeom prst="rect">
            <a:avLst/>
          </a:prstGeom>
          <a:solidFill>
            <a:srgbClr val="EFF8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" name="Google Shape;64;g361aa85237a_0_0"/>
          <p:cNvSpPr txBox="1"/>
          <p:nvPr/>
        </p:nvSpPr>
        <p:spPr>
          <a:xfrm>
            <a:off x="441875" y="6589350"/>
            <a:ext cx="10694400" cy="30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28055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3000">
                <a:solidFill>
                  <a:schemeClr val="dk1"/>
                </a:solidFill>
              </a:rPr>
              <a:t> 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Mô hình hóa</a:t>
            </a:r>
            <a:r>
              <a:rPr lang="en-US" sz="3000">
                <a:solidFill>
                  <a:schemeClr val="dk1"/>
                </a:solidFill>
              </a:rPr>
              <a:t> mô hình khảo sát động lực học xe điện. 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8055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lang="en-US" sz="3000">
                <a:solidFill>
                  <a:schemeClr val="dk1"/>
                </a:solidFill>
              </a:rPr>
              <a:t> 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Thực nghiệm xác định các thông số đặc trưng của mô hình </a:t>
            </a:r>
            <a:r>
              <a:rPr lang="en-US" sz="3000">
                <a:solidFill>
                  <a:schemeClr val="dk1"/>
                </a:solidFill>
              </a:rPr>
              <a:t>khảo sát động lực học xe điện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28055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sz="3000">
                <a:solidFill>
                  <a:schemeClr val="dk1"/>
                </a:solidFill>
              </a:rPr>
              <a:t>Kiểm nghiệm kết quả mô hình xây dựng so với thực nghiệm </a:t>
            </a:r>
            <a:r>
              <a:rPr lang="en-US" sz="3000">
                <a:solidFill>
                  <a:schemeClr val="dk1"/>
                </a:solidFill>
              </a:rPr>
              <a:t>bằng phần mềm Matlab/Simulink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g361aa85237a_0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7188" y="30074575"/>
            <a:ext cx="9326880" cy="512978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6" name="Google Shape;66;g361aa85237a_0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61000" y="35473263"/>
            <a:ext cx="9326880" cy="512978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7" name="Google Shape;67;g361aa85237a_0_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481313" y="30088838"/>
            <a:ext cx="9326880" cy="512978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8" name="Google Shape;68;g361aa85237a_0_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481300" y="35473263"/>
            <a:ext cx="9326878" cy="512978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9" name="Google Shape;69;g361aa85237a_0_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0425413" y="35473263"/>
            <a:ext cx="9326880" cy="512978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0" name="Google Shape;70;g361aa85237a_0_0"/>
          <p:cNvPicPr preferRelativeResize="0"/>
          <p:nvPr/>
        </p:nvPicPr>
        <p:blipFill rotWithShape="1">
          <a:blip r:embed="rId14">
            <a:alphaModFix/>
          </a:blip>
          <a:srcRect b="6428" l="3222" r="0" t="0"/>
          <a:stretch/>
        </p:blipFill>
        <p:spPr>
          <a:xfrm>
            <a:off x="537200" y="24310488"/>
            <a:ext cx="9326880" cy="540959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71" name="Google Shape;71;g361aa85237a_0_0"/>
          <p:cNvGrpSpPr/>
          <p:nvPr/>
        </p:nvGrpSpPr>
        <p:grpSpPr>
          <a:xfrm>
            <a:off x="17231338" y="18348900"/>
            <a:ext cx="12544425" cy="2828188"/>
            <a:chOff x="17231338" y="15377100"/>
            <a:chExt cx="12544425" cy="2828188"/>
          </a:xfrm>
        </p:grpSpPr>
        <p:pic>
          <p:nvPicPr>
            <p:cNvPr id="72" name="Google Shape;72;g361aa85237a_0_0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17231338" y="15939288"/>
              <a:ext cx="12544425" cy="619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g361aa85237a_0_0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17525700" y="17595688"/>
              <a:ext cx="10248900" cy="60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" name="Google Shape;74;g361aa85237a_0_0"/>
            <p:cNvSpPr txBox="1"/>
            <p:nvPr/>
          </p:nvSpPr>
          <p:spPr>
            <a:xfrm>
              <a:off x="17525700" y="15377100"/>
              <a:ext cx="9654900" cy="45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 Xét cân bằng momen tại bánh xe</a:t>
              </a:r>
              <a:endParaRPr b="0" i="0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g361aa85237a_0_0"/>
            <p:cNvSpPr txBox="1"/>
            <p:nvPr/>
          </p:nvSpPr>
          <p:spPr>
            <a:xfrm>
              <a:off x="17525700" y="16941375"/>
              <a:ext cx="9654900" cy="45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 Xét cân bằng momen tại con lăn</a:t>
              </a:r>
              <a:endParaRPr b="0" i="0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6" name="Google Shape;76;g361aa85237a_0_0"/>
          <p:cNvPicPr preferRelativeResize="0"/>
          <p:nvPr/>
        </p:nvPicPr>
        <p:blipFill rotWithShape="1">
          <a:blip r:embed="rId17">
            <a:alphaModFix/>
          </a:blip>
          <a:srcRect b="4928" l="4916" r="1257" t="660"/>
          <a:stretch/>
        </p:blipFill>
        <p:spPr>
          <a:xfrm>
            <a:off x="10491463" y="24177650"/>
            <a:ext cx="9326881" cy="568939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" name="Google Shape;77;g361aa85237a_0_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22675" y="17164825"/>
            <a:ext cx="12822310" cy="535159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61aa85237a_0_0"/>
          <p:cNvSpPr/>
          <p:nvPr/>
        </p:nvSpPr>
        <p:spPr>
          <a:xfrm>
            <a:off x="322675" y="40714225"/>
            <a:ext cx="15222000" cy="6837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029" marR="10811" rtl="0" algn="ctr">
              <a:lnSpc>
                <a:spcPct val="10857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b="1" lang="en-US" sz="3500">
                <a:solidFill>
                  <a:schemeClr val="dk1"/>
                </a:solidFill>
              </a:rPr>
              <a:t>6</a:t>
            </a:r>
            <a:r>
              <a:rPr b="1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Kết luận</a:t>
            </a:r>
            <a:endParaRPr b="1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361aa85237a_0_0"/>
          <p:cNvSpPr/>
          <p:nvPr/>
        </p:nvSpPr>
        <p:spPr>
          <a:xfrm>
            <a:off x="15544675" y="40714225"/>
            <a:ext cx="14373300" cy="683700"/>
          </a:xfrm>
          <a:prstGeom prst="rect">
            <a:avLst/>
          </a:prstGeom>
          <a:solidFill>
            <a:srgbClr val="DD7E6B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029" marR="10811" rtl="0" algn="ctr">
              <a:lnSpc>
                <a:spcPct val="10857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b="1" lang="en-US" sz="3500">
                <a:solidFill>
                  <a:schemeClr val="dk1"/>
                </a:solidFill>
              </a:rPr>
              <a:t>7</a:t>
            </a:r>
            <a:r>
              <a:rPr b="1" lang="en-US" sz="3500">
                <a:solidFill>
                  <a:schemeClr val="dk1"/>
                </a:solidFill>
              </a:rPr>
              <a:t>.</a:t>
            </a:r>
            <a:r>
              <a:rPr b="1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Hướng phát triển</a:t>
            </a:r>
            <a:endParaRPr b="1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g361aa85237a_0_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3144975" y="17171213"/>
            <a:ext cx="1138975" cy="916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81;g361aa85237a_0_0"/>
          <p:cNvCxnSpPr/>
          <p:nvPr/>
        </p:nvCxnSpPr>
        <p:spPr>
          <a:xfrm>
            <a:off x="15544525" y="41010100"/>
            <a:ext cx="0" cy="154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g361aa85237a_0_0"/>
          <p:cNvSpPr txBox="1"/>
          <p:nvPr/>
        </p:nvSpPr>
        <p:spPr>
          <a:xfrm>
            <a:off x="441875" y="41362625"/>
            <a:ext cx="148743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Xây dựng </a:t>
            </a:r>
            <a:r>
              <a:rPr lang="en-US" sz="3000">
                <a:solidFill>
                  <a:schemeClr val="dk1"/>
                </a:solidFill>
              </a:rPr>
              <a:t>được 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mô hình tổng quát và tương đương. Đã tìm được các thông số cần thiết. Kiểm nghiệm mô hình với thực tế nằm trong sai số cho phép.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61aa85237a_0_0"/>
          <p:cNvSpPr txBox="1"/>
          <p:nvPr/>
        </p:nvSpPr>
        <p:spPr>
          <a:xfrm>
            <a:off x="15696675" y="41362625"/>
            <a:ext cx="138552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solidFill>
                  <a:schemeClr val="dk1"/>
                </a:solidFill>
              </a:rPr>
              <a:t>Tiếp tục nghiên cứu các phương pháp t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hực nghiệm </a:t>
            </a:r>
            <a:r>
              <a:rPr lang="en-US" sz="3000">
                <a:solidFill>
                  <a:schemeClr val="dk1"/>
                </a:solidFill>
              </a:rPr>
              <a:t>để 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xác định lực dọc và tổn hao do trượt.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g361aa85237a_0_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20375575" y="24343088"/>
            <a:ext cx="9326880" cy="512978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5" name="Google Shape;85;g361aa85237a_0_0"/>
          <p:cNvSpPr txBox="1"/>
          <p:nvPr/>
        </p:nvSpPr>
        <p:spPr>
          <a:xfrm>
            <a:off x="341700" y="23272300"/>
            <a:ext cx="9810600" cy="6837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Tìm tổn hao ban đầu và quán tính của từng cụm</a:t>
            </a:r>
            <a:endParaRPr b="1" i="1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86;g361aa85237a_0_0"/>
          <p:cNvCxnSpPr/>
          <p:nvPr/>
        </p:nvCxnSpPr>
        <p:spPr>
          <a:xfrm>
            <a:off x="10164575" y="24065050"/>
            <a:ext cx="0" cy="16563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7" name="Google Shape;87;g361aa85237a_0_0"/>
          <p:cNvSpPr txBox="1"/>
          <p:nvPr/>
        </p:nvSpPr>
        <p:spPr>
          <a:xfrm>
            <a:off x="10152175" y="23272150"/>
            <a:ext cx="9993000" cy="6837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Tìm thông số của motor và generator</a:t>
            </a:r>
            <a:endParaRPr b="1" i="1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g361aa85237a_0_0"/>
          <p:cNvCxnSpPr/>
          <p:nvPr/>
        </p:nvCxnSpPr>
        <p:spPr>
          <a:xfrm>
            <a:off x="20145225" y="24032150"/>
            <a:ext cx="0" cy="16620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9" name="Google Shape;89;g361aa85237a_0_0"/>
          <p:cNvSpPr txBox="1"/>
          <p:nvPr/>
        </p:nvSpPr>
        <p:spPr>
          <a:xfrm>
            <a:off x="20145225" y="23272275"/>
            <a:ext cx="9780000" cy="6837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Tìm tổn hao phát sinh và momen cản lăn cho cả cụm</a:t>
            </a:r>
            <a:endParaRPr b="1" i="1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61aa85237a_0_0"/>
          <p:cNvSpPr txBox="1"/>
          <p:nvPr/>
        </p:nvSpPr>
        <p:spPr>
          <a:xfrm>
            <a:off x="11136150" y="6488200"/>
            <a:ext cx="191391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28055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1.</a:t>
            </a:r>
            <a:r>
              <a:rPr lang="en-US" sz="3000">
                <a:solidFill>
                  <a:schemeClr val="dk1"/>
                </a:solidFill>
              </a:rPr>
              <a:t> </a:t>
            </a:r>
            <a:r>
              <a:rPr lang="en-US" sz="3000">
                <a:solidFill>
                  <a:schemeClr val="dk1"/>
                </a:solidFill>
              </a:rPr>
              <a:t>Xây dựng mô hình tổng quát xét đến thông số motor và generator, quán tính, tổn hao ban đầu, tổn hao</a:t>
            </a:r>
            <a:r>
              <a:rPr lang="en-US" sz="3000">
                <a:solidFill>
                  <a:schemeClr val="dk1"/>
                </a:solidFill>
              </a:rPr>
              <a:t> </a:t>
            </a:r>
            <a:r>
              <a:rPr lang="en-US" sz="3000">
                <a:solidFill>
                  <a:schemeClr val="dk1"/>
                </a:solidFill>
              </a:rPr>
              <a:t>phát sinh, momen cản lăn, tổn hao do trượt giữa bánh xe và con lăn, ma sát cơ cấu phanh trường hợp có tải.</a:t>
            </a:r>
            <a:endParaRPr sz="3000">
              <a:solidFill>
                <a:schemeClr val="dk1"/>
              </a:solidFill>
            </a:endParaRPr>
          </a:p>
          <a:p>
            <a:pPr indent="0" lvl="0" marL="0" marR="28055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2. Hiệu chỉnh các thiết bị đo đạc trước khi thực nghiệm.</a:t>
            </a:r>
            <a:endParaRPr sz="3000">
              <a:solidFill>
                <a:schemeClr val="dk1"/>
              </a:solidFill>
            </a:endParaRPr>
          </a:p>
          <a:p>
            <a:pPr indent="0" lvl="0" marL="0" marR="28055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3. Thực nghiệm xác định các thông số đặc trưng và xử lý số liệu phải hợp lý.</a:t>
            </a:r>
            <a:endParaRPr sz="3000">
              <a:solidFill>
                <a:schemeClr val="dk1"/>
              </a:solidFill>
            </a:endParaRPr>
          </a:p>
          <a:p>
            <a:pPr indent="0" lvl="0" marL="0" marR="280554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4. Kiểm nghiệm kết quả mô hình xây dựng so với thực nghiệm nằm trong sai số cho phép.</a:t>
            </a:r>
            <a:endParaRPr sz="3000">
              <a:solidFill>
                <a:schemeClr val="dk1"/>
              </a:solidFill>
            </a:endParaRPr>
          </a:p>
        </p:txBody>
      </p:sp>
      <p:pic>
        <p:nvPicPr>
          <p:cNvPr id="91" name="Google Shape;91;g361aa85237a_0_0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12921875" y="17009275"/>
            <a:ext cx="4330909" cy="5755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g361aa85237a_0_0"/>
          <p:cNvCxnSpPr/>
          <p:nvPr/>
        </p:nvCxnSpPr>
        <p:spPr>
          <a:xfrm>
            <a:off x="11136138" y="5836600"/>
            <a:ext cx="0" cy="370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g361aa85237a_0_0"/>
          <p:cNvSpPr txBox="1"/>
          <p:nvPr/>
        </p:nvSpPr>
        <p:spPr>
          <a:xfrm>
            <a:off x="322675" y="5803150"/>
            <a:ext cx="10813500" cy="6837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3000">
                <a:solidFill>
                  <a:schemeClr val="dk1"/>
                </a:solidFill>
              </a:rPr>
              <a:t>Mục tiêu</a:t>
            </a:r>
            <a:endParaRPr b="1" i="1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61aa85237a_0_0"/>
          <p:cNvSpPr txBox="1"/>
          <p:nvPr/>
        </p:nvSpPr>
        <p:spPr>
          <a:xfrm>
            <a:off x="11136150" y="5804500"/>
            <a:ext cx="18789300" cy="6837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3000">
                <a:solidFill>
                  <a:schemeClr val="dk1"/>
                </a:solidFill>
              </a:rPr>
              <a:t>Yêu cầu</a:t>
            </a:r>
            <a:endParaRPr b="1" i="1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g361aa85237a_0_0" title="BÀI THUYẾT TRÌNH CỦA NHÓM (1).png"/>
          <p:cNvPicPr preferRelativeResize="0"/>
          <p:nvPr/>
        </p:nvPicPr>
        <p:blipFill rotWithShape="1">
          <a:blip r:embed="rId22">
            <a:alphaModFix/>
          </a:blip>
          <a:srcRect b="0" l="10343" r="5495" t="0"/>
          <a:stretch/>
        </p:blipFill>
        <p:spPr>
          <a:xfrm>
            <a:off x="20732325" y="10460650"/>
            <a:ext cx="8184475" cy="5470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361aa85237a_0_0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20482250" y="29847150"/>
            <a:ext cx="9326880" cy="516709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" name="Google Shape;97;g361aa85237a_0_0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1474770" y="9692550"/>
            <a:ext cx="8609004" cy="64506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61aa85237a_0_0"/>
          <p:cNvSpPr txBox="1"/>
          <p:nvPr/>
        </p:nvSpPr>
        <p:spPr>
          <a:xfrm>
            <a:off x="22731888" y="23933088"/>
            <a:ext cx="4827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/>
              <a:t>Kiểm nghiệm khi thả trôi cả cụm</a:t>
            </a:r>
            <a:endParaRPr i="1" sz="2200"/>
          </a:p>
        </p:txBody>
      </p:sp>
      <p:sp>
        <p:nvSpPr>
          <p:cNvPr id="99" name="Google Shape;99;g361aa85237a_0_0"/>
          <p:cNvSpPr txBox="1"/>
          <p:nvPr/>
        </p:nvSpPr>
        <p:spPr>
          <a:xfrm>
            <a:off x="22731875" y="29405450"/>
            <a:ext cx="4827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/>
              <a:t>Kiểm nghiệm khi kéo cả cụm</a:t>
            </a:r>
            <a:endParaRPr i="1" sz="2200"/>
          </a:p>
        </p:txBody>
      </p:sp>
      <p:sp>
        <p:nvSpPr>
          <p:cNvPr id="100" name="Google Shape;100;g361aa85237a_0_0"/>
          <p:cNvSpPr txBox="1"/>
          <p:nvPr/>
        </p:nvSpPr>
        <p:spPr>
          <a:xfrm>
            <a:off x="22731900" y="34983638"/>
            <a:ext cx="4827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/>
              <a:t>Kiểm nghiệm khi phanh cả cụm</a:t>
            </a:r>
            <a:endParaRPr i="1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8595B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2022-10-21T16:25:10Z</dcterms:created>
  <dc:creator>user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2022-10-21T00:00:00Z</vt:filetime>
  </property>
  <property fmtid="{D5CDD505-2E9C-101B-9397-08002B2CF9AE}" pid="3" name="Creator">
    <vt:lpwstr>Adobe InDesign 17.4 (Windows)</vt:lpwstr>
  </property>
  <property fmtid="{D5CDD505-2E9C-101B-9397-08002B2CF9AE}" pid="4" name="LastSaved">
    <vt:filetime>2022-10-21T00:00:00Z</vt:filetime>
  </property>
  <property fmtid="{D5CDD505-2E9C-101B-9397-08002B2CF9AE}" pid="5" name="Producer">
    <vt:lpwstr>Adobe PDF Library 16.0.7</vt:lpwstr>
  </property>
</Properties>
</file>